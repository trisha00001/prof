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1" autoAdjust="0"/>
    <p:restoredTop sz="94610"/>
  </p:normalViewPr>
  <p:slideViewPr>
    <p:cSldViewPr snapToGrid="0" snapToObjects="1">
      <p:cViewPr>
        <p:scale>
          <a:sx n="70" d="100"/>
          <a:sy n="70" d="100"/>
        </p:scale>
        <p:origin x="500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Среднее TAT</c:v>
                </c:pt>
              </c:strCache>
            </c:strRef>
          </c:tx>
          <c:spPr>
            <a:solidFill>
              <a:srgbClr val="1E63D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Lab 1</c:v>
                </c:pt>
                <c:pt idx="1">
                  <c:v>Lab 2</c:v>
                </c:pt>
                <c:pt idx="2">
                  <c:v>Lab 3</c:v>
                </c:pt>
                <c:pt idx="3">
                  <c:v>Lab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161</c:v>
                </c:pt>
                <c:pt idx="1">
                  <c:v>159</c:v>
                </c:pt>
                <c:pt idx="2">
                  <c:v>166</c:v>
                </c:pt>
                <c:pt idx="3">
                  <c:v>164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BC-4FBB-B3CD-B9AEFCB2F6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38A"/>
                </a:solidFill>
                <a:latin typeface="Aptos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15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2738A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Мужчины</c:v>
                </c:pt>
              </c:strCache>
            </c:strRef>
          </c:tx>
          <c:spPr>
            <a:solidFill>
              <a:srgbClr val="1E63D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West</c:v>
                </c:pt>
                <c:pt idx="2">
                  <c:v>North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142</c:v>
                </c:pt>
                <c:pt idx="2">
                  <c:v>131</c:v>
                </c:pt>
                <c:pt idx="3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A0-4B2B-8EB6-20616A329F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Женщины</c:v>
                </c:pt>
              </c:strCache>
            </c:strRef>
          </c:tx>
          <c:spPr>
            <a:solidFill>
              <a:srgbClr val="18B6B3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West</c:v>
                </c:pt>
                <c:pt idx="2">
                  <c:v>North</c:v>
                </c:pt>
                <c:pt idx="3">
                  <c:v>South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550</c:v>
                </c:pt>
                <c:pt idx="1">
                  <c:v>351</c:v>
                </c:pt>
                <c:pt idx="2">
                  <c:v>480</c:v>
                </c:pt>
                <c:pt idx="3">
                  <c:v>350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3A0-4B2B-8EB6-20616A329F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38A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2738A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6346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infographic_scene_of_a_modern_work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804672"/>
            <a:ext cx="5669280" cy="31912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4944" y="8046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63D4"/>
                </a:solidFill>
              </a:rPr>
              <a:t>Модуль 05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58368" y="120700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34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Проверка гипотез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94944" y="2029968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62738A"/>
                </a:solidFill>
              </a:rPr>
              <a:t>Практические бизнес-кейсы: от выбора теста до управленческого вывода при уровне значимости 5%.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713232" y="3044952"/>
            <a:ext cx="1298448" cy="0"/>
          </a:xfrm>
          <a:prstGeom prst="line">
            <a:avLst/>
          </a:prstGeom>
          <a:noFill/>
          <a:ln w="50800">
            <a:solidFill>
              <a:srgbClr val="18B6B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1896" y="5623573"/>
            <a:ext cx="8129016" cy="27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37B93"/>
                </a:solidFill>
              </a:rPr>
              <a:t>Cutlets.csv  •  LabTAT.csv  •  Buyer Ratio  •  Customer OrderForm.csv  •  Fantaloons.csv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4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нужно доказать статистически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Пять кейсов, где интуицию бизнеса заменяем проверяемым выводом</a:t>
            </a:r>
            <a:r>
              <a:rPr lang="en-US" sz="950" dirty="0">
                <a:solidFill>
                  <a:srgbClr val="62738A"/>
                </a:solidFill>
              </a:rPr>
              <a:t>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43000" cy="0"/>
          </a:xfrm>
          <a:prstGeom prst="line">
            <a:avLst/>
          </a:prstGeom>
          <a:noFill/>
          <a:ln w="38100">
            <a:solidFill>
              <a:srgbClr val="18B6B3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868680" y="1746504"/>
            <a:ext cx="9921240" cy="0"/>
          </a:xfrm>
          <a:prstGeom prst="line">
            <a:avLst/>
          </a:prstGeom>
          <a:noFill/>
          <a:ln w="12700">
            <a:solidFill>
              <a:srgbClr val="D5E7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90472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63D4"/>
                </a:solidFill>
              </a:rPr>
              <a:t>01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98448" y="1417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45B"/>
                </a:solidFill>
              </a:rPr>
              <a:t>Качество продукта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49040" y="143560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F2233"/>
                </a:solidFill>
              </a:rPr>
              <a:t>Различается ли диаметр cutlet между двумя производственными единицами?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9281160" y="1280160"/>
            <a:ext cx="1719072" cy="502920"/>
          </a:xfrm>
          <a:prstGeom prst="roundRect">
            <a:avLst>
              <a:gd name="adj" fmla="val 23529"/>
            </a:avLst>
          </a:prstGeom>
          <a:solidFill>
            <a:srgbClr val="1E63D4">
              <a:alpha val="95000"/>
            </a:srgbClr>
          </a:solidFill>
          <a:ln w="12700">
            <a:solidFill>
              <a:srgbClr val="1E63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73768" y="1472184"/>
            <a:ext cx="1197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Две группы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68680" y="2615184"/>
            <a:ext cx="9921240" cy="0"/>
          </a:xfrm>
          <a:prstGeom prst="line">
            <a:avLst/>
          </a:prstGeom>
          <a:noFill/>
          <a:ln w="12700">
            <a:solidFill>
              <a:srgbClr val="D5E7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2359152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63D4"/>
                </a:solidFill>
              </a:rPr>
              <a:t>02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98448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45B"/>
                </a:solidFill>
              </a:rPr>
              <a:t>Скорость лабораторий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749040" y="230428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F2233"/>
                </a:solidFill>
              </a:rPr>
              <a:t>Одинаково ли среднее время TAT у четырёх лабораторий?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9297924" y="2121408"/>
            <a:ext cx="1719072" cy="493776"/>
          </a:xfrm>
          <a:prstGeom prst="roundRect">
            <a:avLst>
              <a:gd name="adj" fmla="val 23529"/>
            </a:avLst>
          </a:prstGeom>
          <a:solidFill>
            <a:srgbClr val="18B6B3">
              <a:alpha val="95000"/>
            </a:srgbClr>
          </a:solidFill>
          <a:ln w="12700">
            <a:solidFill>
              <a:srgbClr val="18B6B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73768" y="2340864"/>
            <a:ext cx="1197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4 группы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68680" y="3483864"/>
            <a:ext cx="9921240" cy="0"/>
          </a:xfrm>
          <a:prstGeom prst="line">
            <a:avLst/>
          </a:prstGeom>
          <a:noFill/>
          <a:ln w="12700">
            <a:solidFill>
              <a:srgbClr val="D5E7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3227832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63D4"/>
                </a:solidFill>
              </a:rPr>
              <a:t>03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298448" y="3154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45B"/>
                </a:solidFill>
              </a:rPr>
              <a:t>Покупатели по регионам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749040" y="317296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F2233"/>
                </a:solidFill>
              </a:rPr>
              <a:t>Схожи ли доли мужчин и женщин в East / West / North / South?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9297924" y="2999231"/>
            <a:ext cx="1719072" cy="475489"/>
          </a:xfrm>
          <a:prstGeom prst="roundRect">
            <a:avLst>
              <a:gd name="adj" fmla="val 23529"/>
            </a:avLst>
          </a:prstGeom>
          <a:solidFill>
            <a:srgbClr val="1E63D4">
              <a:alpha val="95000"/>
            </a:srgbClr>
          </a:solidFill>
          <a:ln w="12700">
            <a:solidFill>
              <a:srgbClr val="1E63D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73768" y="3209544"/>
            <a:ext cx="1197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Категории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868680" y="4352544"/>
            <a:ext cx="9921240" cy="0"/>
          </a:xfrm>
          <a:prstGeom prst="line">
            <a:avLst/>
          </a:prstGeom>
          <a:noFill/>
          <a:ln w="12700">
            <a:solidFill>
              <a:srgbClr val="D5E7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4096512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63D4"/>
                </a:solidFill>
              </a:rPr>
              <a:t>04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298448" y="4023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45B"/>
                </a:solidFill>
              </a:rPr>
              <a:t>Ошибки order forms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749040" y="404164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F2233"/>
                </a:solidFill>
              </a:rPr>
              <a:t>Меняется ли доля дефектных форм между центрами обработки?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9297924" y="3895344"/>
            <a:ext cx="1719072" cy="521208"/>
          </a:xfrm>
          <a:prstGeom prst="roundRect">
            <a:avLst>
              <a:gd name="adj" fmla="val 34055"/>
            </a:avLst>
          </a:prstGeom>
          <a:solidFill>
            <a:srgbClr val="18B6B3">
              <a:alpha val="95000"/>
            </a:srgbClr>
          </a:solidFill>
          <a:ln w="12700">
            <a:solidFill>
              <a:srgbClr val="18B6B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73768" y="4078224"/>
            <a:ext cx="1197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Доли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868680" y="5221224"/>
            <a:ext cx="9921240" cy="0"/>
          </a:xfrm>
          <a:prstGeom prst="line">
            <a:avLst/>
          </a:prstGeom>
          <a:noFill/>
          <a:ln w="12700">
            <a:solidFill>
              <a:srgbClr val="D5E7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" y="4965192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63D4"/>
                </a:solidFill>
              </a:rPr>
              <a:t>05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298448" y="4892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45B"/>
                </a:solidFill>
              </a:rPr>
              <a:t>Посещаемость магазина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749040" y="491032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F2233"/>
                </a:solidFill>
              </a:rPr>
              <a:t>Зависит ли мужской/женский трафик от дня недели?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9297924" y="4663439"/>
            <a:ext cx="1719072" cy="621792"/>
          </a:xfrm>
          <a:prstGeom prst="roundRect">
            <a:avLst>
              <a:gd name="adj" fmla="val 23529"/>
            </a:avLst>
          </a:prstGeom>
          <a:solidFill>
            <a:srgbClr val="1E63D4">
              <a:alpha val="95000"/>
            </a:srgbClr>
          </a:solidFill>
          <a:ln w="12700">
            <a:solidFill>
              <a:srgbClr val="1E63D4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73768" y="4946904"/>
            <a:ext cx="1197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Дни недели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10835640" y="1005840"/>
            <a:ext cx="914400" cy="502920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C8E3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95560" y="56967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B6B3"/>
                </a:solidFill>
              </a:rPr>
              <a:t>α = 0,05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66928" y="655624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EA4"/>
                </a:solidFill>
              </a:rPr>
              <a:t>Модуль 05 • Проверка гипотез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320272" y="65013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EA4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4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Общая логика решения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2738A"/>
                </a:solidFill>
              </a:rPr>
              <a:t>Один процесс подходит для всех пяти заданий: меняется только тип теста.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43000" cy="0"/>
          </a:xfrm>
          <a:prstGeom prst="line">
            <a:avLst/>
          </a:prstGeom>
          <a:noFill/>
          <a:ln w="38100">
            <a:solidFill>
              <a:srgbClr val="18B6B3"/>
            </a:solidFill>
            <a:prstDash val="solid"/>
            <a:headEnd type="none"/>
            <a:tailEnd type="none"/>
          </a:ln>
        </p:spPr>
      </p:sp>
      <p:pic>
        <p:nvPicPr>
          <p:cNvPr id="5" name="Image 0" descr="/mnt/data/wide_clean_vector_infographic_on_a_light_white_bac.png"/>
          <p:cNvPicPr>
            <a:picLocks noChangeAspect="1"/>
          </p:cNvPicPr>
          <p:nvPr/>
        </p:nvPicPr>
        <p:blipFill>
          <a:blip r:embed="rId3"/>
          <a:srcRect t="18323" b="18323"/>
          <a:stretch/>
        </p:blipFill>
        <p:spPr>
          <a:xfrm>
            <a:off x="295980" y="1353315"/>
            <a:ext cx="11335188" cy="40416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568756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2738A"/>
                </a:solidFill>
              </a:rPr>
              <a:t>На каждом шаге фиксируем бизнес-вопрос, статистические гипотезы, допущения и правило решения. Итог — не просто p-value, а конкретная рекомендация для менеджера.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66928" y="655624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EA4"/>
                </a:solidFill>
              </a:rPr>
              <a:t>Модуль 05 • Проверка гипотез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320272" y="65013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EA4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34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Каркас проверки гипотез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Минимальный шаблон, который нужно повторить в каждом кейсе.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43000" cy="0"/>
          </a:xfrm>
          <a:prstGeom prst="line">
            <a:avLst/>
          </a:prstGeom>
          <a:noFill/>
          <a:ln w="38100">
            <a:solidFill>
              <a:srgbClr val="18B6B3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13232" y="1600200"/>
            <a:ext cx="3246120" cy="352044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7E8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47088"/>
            <a:ext cx="438912" cy="438912"/>
          </a:xfrm>
          <a:prstGeom prst="ellipse">
            <a:avLst/>
          </a:prstGeom>
          <a:solidFill>
            <a:srgbClr val="1E63D4"/>
          </a:solidFill>
          <a:ln w="12700">
            <a:solidFill>
              <a:srgbClr val="1E63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90472" y="1847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45B"/>
                </a:solidFill>
              </a:rPr>
              <a:t>1. Формулировка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33272" y="2578608"/>
            <a:ext cx="260604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F2233"/>
                </a:solidFill>
              </a:rPr>
              <a:t>H₀: различий/зависимости нет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2233"/>
                </a:solidFill>
              </a:rPr>
              <a:t>Hₐ: есть значимое различие или зависимость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2233"/>
                </a:solidFill>
              </a:rPr>
              <a:t>α = 0,05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251960" y="1600200"/>
            <a:ext cx="3246120" cy="352044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7E8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53128" y="1847088"/>
            <a:ext cx="438912" cy="438912"/>
          </a:xfrm>
          <a:prstGeom prst="ellipse">
            <a:avLst/>
          </a:prstGeom>
          <a:solidFill>
            <a:srgbClr val="18B6B3"/>
          </a:solidFill>
          <a:ln w="12700">
            <a:solidFill>
              <a:srgbClr val="18B6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3128" y="1965960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2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29200" y="1847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45B"/>
                </a:solidFill>
              </a:rPr>
              <a:t>2. Проверки допущений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0" y="2578608"/>
            <a:ext cx="260604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F2233"/>
                </a:solidFill>
              </a:rPr>
              <a:t>Нормальность — Shapiro / QQ plot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2233"/>
                </a:solidFill>
              </a:rPr>
              <a:t>Гомогенность дисперсий — Levene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2233"/>
                </a:solidFill>
              </a:rPr>
              <a:t>Независимость наблюдений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790688" y="1600200"/>
            <a:ext cx="3246120" cy="352044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7E8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91856" y="1847088"/>
            <a:ext cx="438912" cy="438912"/>
          </a:xfrm>
          <a:prstGeom prst="ellipse">
            <a:avLst/>
          </a:prstGeom>
          <a:solidFill>
            <a:srgbClr val="0F9F6E"/>
          </a:solidFill>
          <a:ln w="12700">
            <a:solidFill>
              <a:srgbClr val="0F9F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91856" y="1965960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67928" y="1847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45B"/>
                </a:solidFill>
              </a:rPr>
              <a:t>3. Решение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110728" y="2578608"/>
            <a:ext cx="260604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F2233"/>
                </a:solidFill>
              </a:rPr>
              <a:t>p-value &lt; α → отвергаем H₀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2233"/>
                </a:solidFill>
              </a:rPr>
              <a:t>p-value ≥ α → нет оснований отвергать H₀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2233"/>
                </a:solidFill>
              </a:rPr>
              <a:t>Вывод переводим на язык бизнеса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639312" y="3364992"/>
            <a:ext cx="411480" cy="0"/>
          </a:xfrm>
          <a:prstGeom prst="line">
            <a:avLst/>
          </a:prstGeom>
          <a:noFill/>
          <a:ln w="25400">
            <a:solidFill>
              <a:srgbClr val="1E63D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178040" y="3364992"/>
            <a:ext cx="411480" cy="0"/>
          </a:xfrm>
          <a:prstGeom prst="line">
            <a:avLst/>
          </a:prstGeom>
          <a:noFill/>
          <a:ln w="25400">
            <a:solidFill>
              <a:srgbClr val="18B6B3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50976" y="5650992"/>
            <a:ext cx="10287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2738A"/>
                </a:solidFill>
              </a:rPr>
              <a:t>Цель — показать, насколько вероятны наблюдаемые данные при H₀, а затем принять управленческое решение.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6928" y="655624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EA4"/>
                </a:solidFill>
              </a:rPr>
              <a:t>Модуль 05 • Проверка гипотез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320272" y="65013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EA4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34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Кейс</a:t>
            </a:r>
            <a:r>
              <a:rPr lang="en-US" sz="3000" b="1" dirty="0">
                <a:solidFill>
                  <a:srgbClr val="1434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1: сравнение двух производственных единиц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322576" y="7589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2738A"/>
                </a:solidFill>
              </a:rPr>
              <a:t>Файл: Cutlets.csv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43000" cy="0"/>
          </a:xfrm>
          <a:prstGeom prst="line">
            <a:avLst/>
          </a:prstGeom>
          <a:noFill/>
          <a:ln w="38100">
            <a:solidFill>
              <a:srgbClr val="18B6B3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475488" cy="475488"/>
          </a:xfrm>
          <a:prstGeom prst="ellipse">
            <a:avLst/>
          </a:prstGeom>
          <a:solidFill>
            <a:srgbClr val="1E63D4"/>
          </a:solidFill>
          <a:ln w="12700">
            <a:solidFill>
              <a:srgbClr val="1E63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3619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70432" y="135331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345B"/>
                </a:solidFill>
              </a:rPr>
              <a:t>Диаметр продукта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179576" y="1746504"/>
            <a:ext cx="1965960" cy="310896"/>
          </a:xfrm>
          <a:prstGeom prst="roundRect">
            <a:avLst>
              <a:gd name="adj" fmla="val 23529"/>
            </a:avLst>
          </a:prstGeom>
          <a:solidFill>
            <a:srgbClr val="18B6B3">
              <a:alpha val="95000"/>
            </a:srgbClr>
          </a:solidFill>
          <a:ln w="12700">
            <a:solidFill>
              <a:srgbClr val="18B6B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9304" y="1819656"/>
            <a:ext cx="1746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two-sample t-test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76656" y="2459736"/>
            <a:ext cx="5230368" cy="0"/>
          </a:xfrm>
          <a:prstGeom prst="line">
            <a:avLst/>
          </a:prstGeom>
          <a:noFill/>
          <a:ln w="12700">
            <a:solidFill>
              <a:srgbClr val="CFE3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340864"/>
            <a:ext cx="1645920" cy="219456"/>
          </a:xfrm>
          <a:prstGeom prst="rect">
            <a:avLst/>
          </a:prstGeom>
          <a:solidFill>
            <a:srgbClr val="F6FA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63D4"/>
                </a:solidFill>
              </a:rPr>
              <a:t>ЗАДАЧА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800" y="267919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F2233"/>
                </a:solidFill>
              </a:rPr>
              <a:t>Проверить, отличается ли средний диаметр cutlet между двумя юнитами. Это вопрос стабильности качества и единства производственного стандарта.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76656" y="3794760"/>
            <a:ext cx="5230368" cy="0"/>
          </a:xfrm>
          <a:prstGeom prst="line">
            <a:avLst/>
          </a:prstGeom>
          <a:noFill/>
          <a:ln w="12700">
            <a:solidFill>
              <a:srgbClr val="CFE3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3675888"/>
            <a:ext cx="1645920" cy="219456"/>
          </a:xfrm>
          <a:prstGeom prst="rect">
            <a:avLst/>
          </a:prstGeom>
          <a:solidFill>
            <a:srgbClr val="F6FA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63D4"/>
                </a:solidFill>
              </a:rPr>
              <a:t>ТЕСТ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13232" y="4059936"/>
            <a:ext cx="91440" cy="91440"/>
          </a:xfrm>
          <a:prstGeom prst="ellipse">
            <a:avLst/>
          </a:prstGeom>
          <a:solidFill>
            <a:srgbClr val="18B6B3"/>
          </a:solidFill>
          <a:ln w="12700">
            <a:solidFill>
              <a:srgbClr val="18B6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023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F2233"/>
                </a:solidFill>
              </a:rPr>
              <a:t>H₀: средние диаметры равны.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13232" y="4562856"/>
            <a:ext cx="91440" cy="91440"/>
          </a:xfrm>
          <a:prstGeom prst="ellipse">
            <a:avLst/>
          </a:prstGeom>
          <a:solidFill>
            <a:srgbClr val="18B6B3"/>
          </a:solidFill>
          <a:ln w="12700">
            <a:solidFill>
              <a:srgbClr val="18B6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4439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F2233"/>
                </a:solidFill>
              </a:rPr>
              <a:t>Hₐ: хотя бы одно среднее отличается.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13232" y="5074920"/>
            <a:ext cx="91440" cy="91440"/>
          </a:xfrm>
          <a:prstGeom prst="ellipse">
            <a:avLst/>
          </a:prstGeom>
          <a:solidFill>
            <a:srgbClr val="18B6B3"/>
          </a:solidFill>
          <a:ln w="12700">
            <a:solidFill>
              <a:srgbClr val="18B6B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9743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F2233"/>
                </a:solidFill>
              </a:rPr>
              <a:t>Перед t-test: нормальность и равенство дисперсий.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931152" y="1298448"/>
            <a:ext cx="44348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7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31152" y="1298448"/>
            <a:ext cx="82296" cy="1325880"/>
          </a:xfrm>
          <a:prstGeom prst="rect">
            <a:avLst/>
          </a:prstGeom>
          <a:solidFill>
            <a:srgbClr val="18B6B3"/>
          </a:solidFill>
          <a:ln w="12700">
            <a:solidFill>
              <a:srgbClr val="18B6B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146304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45B"/>
                </a:solidFill>
              </a:rPr>
              <a:t>Бизнес-вывод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132320" y="1755648"/>
            <a:ext cx="4114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При значимом различии: найти причину между юнитами — настройка оборудования, сырьё, операторские процедуры.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931152" y="2926080"/>
            <a:ext cx="44348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7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31152" y="2926080"/>
            <a:ext cx="82296" cy="1325880"/>
          </a:xfrm>
          <a:prstGeom prst="rect">
            <a:avLst/>
          </a:prstGeom>
          <a:solidFill>
            <a:srgbClr val="1E63D4"/>
          </a:solidFill>
          <a:ln w="12700">
            <a:solidFill>
              <a:srgbClr val="1E63D4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3090672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45B"/>
                </a:solidFill>
              </a:rPr>
              <a:t>Если допущения нарушены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132320" y="3383280"/>
            <a:ext cx="4114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Использовать Welch t-test или непараметрический Mann–Whitney U, если данные явно не нормальны.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66928" y="655624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EA4"/>
                </a:solidFill>
              </a:rPr>
              <a:t>Модуль 05 • Проверка гипотез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320272" y="65013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EA4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4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Кейс 2: Turn </a:t>
            </a:r>
            <a:r>
              <a:rPr lang="en-US" sz="3600" b="1" dirty="0">
                <a:solidFill>
                  <a:srgbClr val="1434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Around</a:t>
            </a:r>
            <a:r>
              <a:rPr lang="en-US" sz="3000" b="1" dirty="0">
                <a:solidFill>
                  <a:srgbClr val="1434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Time лабораторий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Файл: LabTAT.csv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43000" cy="0"/>
          </a:xfrm>
          <a:prstGeom prst="line">
            <a:avLst/>
          </a:prstGeom>
          <a:noFill/>
          <a:ln w="38100">
            <a:solidFill>
              <a:srgbClr val="18B6B3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475488" cy="475488"/>
          </a:xfrm>
          <a:prstGeom prst="ellipse">
            <a:avLst/>
          </a:prstGeom>
          <a:solidFill>
            <a:srgbClr val="1E63D4"/>
          </a:solidFill>
          <a:ln w="12700">
            <a:solidFill>
              <a:srgbClr val="1E63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3619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70432" y="135331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345B"/>
                </a:solidFill>
              </a:rPr>
              <a:t>Среднее TAT у 4 лабораторий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179576" y="1746504"/>
            <a:ext cx="1965960" cy="310896"/>
          </a:xfrm>
          <a:prstGeom prst="roundRect">
            <a:avLst>
              <a:gd name="adj" fmla="val 23529"/>
            </a:avLst>
          </a:prstGeom>
          <a:solidFill>
            <a:srgbClr val="18B6B3">
              <a:alpha val="95000"/>
            </a:srgbClr>
          </a:solidFill>
          <a:ln w="12700">
            <a:solidFill>
              <a:srgbClr val="18B6B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9304" y="1847088"/>
            <a:ext cx="1746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one-way ANOVA</a:t>
            </a:r>
            <a:endParaRPr lang="en-US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731520" y="2359152"/>
          <a:ext cx="507492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914400" y="553212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7B8EA3"/>
                </a:solidFill>
              </a:rPr>
              <a:t>Пример визуализации: фактические значения нужно пересчитать из CSV.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6400800" y="2176272"/>
            <a:ext cx="498348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7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2176272"/>
            <a:ext cx="82296" cy="1207008"/>
          </a:xfrm>
          <a:prstGeom prst="rect">
            <a:avLst/>
          </a:prstGeom>
          <a:solidFill>
            <a:srgbClr val="1E63D4"/>
          </a:solidFill>
          <a:ln w="12700">
            <a:solidFill>
              <a:srgbClr val="1E63D4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01968" y="2368296"/>
            <a:ext cx="4617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45B"/>
                </a:solidFill>
              </a:rPr>
              <a:t>Гипотезы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601968" y="266090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H₀: среднее TAT одинаково во всех лабораториях.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Hₐ: минимум одна лаборатория отличается.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6400800" y="3639312"/>
            <a:ext cx="498348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7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0" y="3639312"/>
            <a:ext cx="82296" cy="1207008"/>
          </a:xfrm>
          <a:prstGeom prst="rect">
            <a:avLst/>
          </a:prstGeom>
          <a:solidFill>
            <a:srgbClr val="18B6B3"/>
          </a:solidFill>
          <a:ln w="12700">
            <a:solidFill>
              <a:srgbClr val="18B6B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01968" y="3831336"/>
            <a:ext cx="4617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45B"/>
                </a:solidFill>
              </a:rPr>
              <a:t>После ANOVA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601968" y="412394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Если p-value &lt; 0,05 — выполнить post-hoc анализ, чтобы понять, какая именно лаборатория выбивается.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537960" y="525780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Менеджер получает не только факт различия, но и список лабораторий, где нужно сокращать время обработки отчётов.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66928" y="655624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EA4"/>
                </a:solidFill>
              </a:rPr>
              <a:t>Модуль 05 • Проверка гипотез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1320272" y="65013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EA4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4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Кейс 3: соотношение покупателей по регионам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Данные из задания: East, West, North, South × Male/Female.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43000" cy="0"/>
          </a:xfrm>
          <a:prstGeom prst="line">
            <a:avLst/>
          </a:prstGeom>
          <a:noFill/>
          <a:ln w="38100">
            <a:solidFill>
              <a:srgbClr val="18B6B3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475488" cy="475488"/>
          </a:xfrm>
          <a:prstGeom prst="ellipse">
            <a:avLst/>
          </a:prstGeom>
          <a:solidFill>
            <a:srgbClr val="1E63D4"/>
          </a:solidFill>
          <a:ln w="12700">
            <a:solidFill>
              <a:srgbClr val="1E63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3619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03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70432" y="135331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345B"/>
                </a:solidFill>
              </a:rPr>
              <a:t>Male/Female buyer ratio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179576" y="1673352"/>
            <a:ext cx="2752344" cy="630936"/>
          </a:xfrm>
          <a:prstGeom prst="roundRect">
            <a:avLst>
              <a:gd name="adj" fmla="val 23529"/>
            </a:avLst>
          </a:prstGeom>
          <a:solidFill>
            <a:srgbClr val="18B6B3">
              <a:alpha val="95000"/>
            </a:srgbClr>
          </a:solidFill>
          <a:ln w="12700">
            <a:solidFill>
              <a:srgbClr val="18B6B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89888" y="1837944"/>
            <a:ext cx="2386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chi-square independence</a:t>
            </a:r>
            <a:endParaRPr lang="en-US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791678154"/>
              </p:ext>
            </p:extLst>
          </p:nvPr>
        </p:nvGraphicFramePr>
        <p:xfrm>
          <a:off x="685800" y="2450592"/>
          <a:ext cx="55778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822960" y="55778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7200" dirty="0">
                <a:solidFill>
                  <a:srgbClr val="62738A"/>
                </a:solidFill>
              </a:rPr>
              <a:t>Визуально доли выглядят разными; статистический ответ даёт χ²-тест независимости</a:t>
            </a:r>
            <a:r>
              <a:rPr lang="en-US" dirty="0">
                <a:solidFill>
                  <a:srgbClr val="62738A"/>
                </a:solidFill>
              </a:rPr>
              <a:t>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6784848" y="2011680"/>
            <a:ext cx="449884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7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84848" y="2011680"/>
            <a:ext cx="82296" cy="1097280"/>
          </a:xfrm>
          <a:prstGeom prst="rect">
            <a:avLst/>
          </a:prstGeom>
          <a:solidFill>
            <a:srgbClr val="1E63D4"/>
          </a:solidFill>
          <a:ln w="12700">
            <a:solidFill>
              <a:srgbClr val="1E63D4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86016" y="2176272"/>
            <a:ext cx="4133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45B"/>
                </a:solidFill>
              </a:rPr>
              <a:t>H₀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986016" y="2468880"/>
            <a:ext cx="4178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Гендерное распределение покупателей не зависит от региона.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6784848" y="3364992"/>
            <a:ext cx="449884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7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784848" y="3364992"/>
            <a:ext cx="82296" cy="1097280"/>
          </a:xfrm>
          <a:prstGeom prst="rect">
            <a:avLst/>
          </a:prstGeom>
          <a:solidFill>
            <a:srgbClr val="18B6B3"/>
          </a:solidFill>
          <a:ln w="12700">
            <a:solidFill>
              <a:srgbClr val="18B6B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86016" y="3529584"/>
            <a:ext cx="4133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45B"/>
                </a:solidFill>
              </a:rPr>
              <a:t>Hₐ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986016" y="3822192"/>
            <a:ext cx="4178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Есть связь между регионом и долей мужчин/женщин.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839712" y="496519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Практический смысл: если связь значима, маркетинг и ассортимент стоит адаптировать по регионам, а не запускать одну общую кампанию.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66928" y="655624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EA4"/>
                </a:solidFill>
              </a:rPr>
              <a:t>Модуль 05 • Проверка гипотез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1320272" y="65013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EA4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4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Кейс 4: дефектные order forms по центрам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Файл: Customer OrderForm.csv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43000" cy="0"/>
          </a:xfrm>
          <a:prstGeom prst="line">
            <a:avLst/>
          </a:prstGeom>
          <a:noFill/>
          <a:ln w="38100">
            <a:solidFill>
              <a:srgbClr val="18B6B3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475488" cy="475488"/>
          </a:xfrm>
          <a:prstGeom prst="ellipse">
            <a:avLst/>
          </a:prstGeom>
          <a:solidFill>
            <a:srgbClr val="1E63D4"/>
          </a:solidFill>
          <a:ln w="12700">
            <a:solidFill>
              <a:srgbClr val="1E63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3619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04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70432" y="135331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345B"/>
                </a:solidFill>
              </a:rPr>
              <a:t>Доля ошибок в 4 центрах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156716" y="1737360"/>
            <a:ext cx="3355848" cy="475488"/>
          </a:xfrm>
          <a:prstGeom prst="roundRect">
            <a:avLst>
              <a:gd name="adj" fmla="val 23529"/>
            </a:avLst>
          </a:prstGeom>
          <a:solidFill>
            <a:srgbClr val="18B6B3">
              <a:alpha val="95000"/>
            </a:srgbClr>
          </a:solidFill>
          <a:ln w="12700">
            <a:solidFill>
              <a:srgbClr val="18B6B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1865375"/>
            <a:ext cx="2953512" cy="18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proportion / chi-square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232" y="233172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F2233"/>
                </a:solidFill>
              </a:rPr>
              <a:t>Строим таблицу “центр × статус формы” и проверяем, одинаков ли процент дефектных форм.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49808" y="3063240"/>
            <a:ext cx="1554480" cy="502920"/>
          </a:xfrm>
          <a:prstGeom prst="rect">
            <a:avLst/>
          </a:prstGeom>
          <a:solidFill>
            <a:srgbClr val="14345B"/>
          </a:solidFill>
          <a:ln w="12700">
            <a:solidFill>
              <a:srgbClr val="BFD8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172968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Центр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304288" y="3063240"/>
            <a:ext cx="1554480" cy="502920"/>
          </a:xfrm>
          <a:prstGeom prst="rect">
            <a:avLst/>
          </a:prstGeom>
          <a:solidFill>
            <a:srgbClr val="14345B"/>
          </a:solidFill>
          <a:ln w="12700">
            <a:solidFill>
              <a:srgbClr val="BFD8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04288" y="3172968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Ошибок нет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858768" y="3063240"/>
            <a:ext cx="1554480" cy="402336"/>
          </a:xfrm>
          <a:prstGeom prst="rect">
            <a:avLst/>
          </a:prstGeom>
          <a:solidFill>
            <a:srgbClr val="14345B"/>
          </a:solidFill>
          <a:ln w="12700">
            <a:solidFill>
              <a:srgbClr val="BFD8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58768" y="3172968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Дефект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49808" y="3465576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8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575304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F2233"/>
                </a:solidFill>
              </a:rPr>
              <a:t>C1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304288" y="3465576"/>
            <a:ext cx="1554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D8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04288" y="3575304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F2233"/>
                </a:solidFill>
              </a:rPr>
              <a:t>n₁₀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858768" y="3465576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8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58768" y="3575304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F2233"/>
                </a:solidFill>
              </a:rPr>
              <a:t>n₁₁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749808" y="3867912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8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97764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F2233"/>
                </a:solidFill>
              </a:rPr>
              <a:t>C2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304288" y="3867912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8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04288" y="397764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F2233"/>
                </a:solidFill>
              </a:rPr>
              <a:t>n₂₀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858768" y="3867912"/>
            <a:ext cx="1554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D8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58768" y="397764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F2233"/>
                </a:solidFill>
              </a:rPr>
              <a:t>n₂₁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749808" y="4270248"/>
            <a:ext cx="1554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D8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379976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F2233"/>
                </a:solidFill>
              </a:rPr>
              <a:t>C3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2304288" y="4270248"/>
            <a:ext cx="1554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D8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04288" y="437997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F2233"/>
                </a:solidFill>
              </a:rPr>
              <a:t>n₃₀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3858768" y="4270248"/>
            <a:ext cx="1554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D8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58768" y="437997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F2233"/>
                </a:solidFill>
              </a:rPr>
              <a:t>n₃₁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749808" y="4672584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8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478231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F2233"/>
                </a:solidFill>
              </a:rPr>
              <a:t>C4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2304288" y="4672584"/>
            <a:ext cx="1554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D8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04288" y="478231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F2233"/>
                </a:solidFill>
              </a:rPr>
              <a:t>n₄₀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3858768" y="4672584"/>
            <a:ext cx="1554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D8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58768" y="478231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F2233"/>
                </a:solidFill>
              </a:rPr>
              <a:t>n₄₁</a:t>
            </a: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400800" y="2103120"/>
            <a:ext cx="47091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7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0" y="2103120"/>
            <a:ext cx="82296" cy="1097280"/>
          </a:xfrm>
          <a:prstGeom prst="rect">
            <a:avLst/>
          </a:prstGeom>
          <a:solidFill>
            <a:srgbClr val="DC4C64"/>
          </a:solidFill>
          <a:ln w="12700">
            <a:solidFill>
              <a:srgbClr val="DC4C64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01968" y="2267712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45B"/>
                </a:solidFill>
              </a:rPr>
              <a:t>Критерий решения</a:t>
            </a: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601968" y="256032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p-value &lt; 0,05 → доля дефектов отличается хотя бы в одном центре.</a:t>
            </a: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6400800" y="3520440"/>
            <a:ext cx="47091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7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0" y="3520440"/>
            <a:ext cx="82296" cy="1097280"/>
          </a:xfrm>
          <a:prstGeom prst="rect">
            <a:avLst/>
          </a:prstGeom>
          <a:solidFill>
            <a:srgbClr val="18B6B3"/>
          </a:solidFill>
          <a:ln w="12700">
            <a:solidFill>
              <a:srgbClr val="18B6B3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01968" y="3685032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45B"/>
                </a:solidFill>
              </a:rPr>
              <a:t>Что делать после</a:t>
            </a: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601968" y="397764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Найти центр с повышенным вкладом в χ² и провести аудит процесса: обучение, шаблоны, контроль ввода.</a:t>
            </a: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492240" y="51389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Это не просто статистика: результат напрямую показывает, где теряются деньги на переделку форм.</a:t>
            </a: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66928" y="655624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EA4"/>
                </a:solidFill>
              </a:rPr>
              <a:t>Модуль 05 • Проверка гипотез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1320272" y="65013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EA4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4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Кейс 5: посещаемость Fantaloons по дням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Файл: Fantaloons.csv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43000" cy="0"/>
          </a:xfrm>
          <a:prstGeom prst="line">
            <a:avLst/>
          </a:prstGeom>
          <a:noFill/>
          <a:ln w="38100">
            <a:solidFill>
              <a:srgbClr val="18B6B3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475488" cy="475488"/>
          </a:xfrm>
          <a:prstGeom prst="ellipse">
            <a:avLst/>
          </a:prstGeom>
          <a:solidFill>
            <a:srgbClr val="1E63D4"/>
          </a:solidFill>
          <a:ln w="12700">
            <a:solidFill>
              <a:srgbClr val="1E63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3619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05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70432" y="135331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345B"/>
                </a:solidFill>
              </a:rPr>
              <a:t>Пол посетителей × день недели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161287" y="1709928"/>
            <a:ext cx="2752344" cy="420624"/>
          </a:xfrm>
          <a:prstGeom prst="roundRect">
            <a:avLst>
              <a:gd name="adj" fmla="val 23529"/>
            </a:avLst>
          </a:prstGeom>
          <a:solidFill>
            <a:srgbClr val="18B6B3">
              <a:alpha val="95000"/>
            </a:srgbClr>
          </a:solidFill>
          <a:ln w="12700">
            <a:solidFill>
              <a:srgbClr val="18B6B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9304" y="1819656"/>
            <a:ext cx="2386584" cy="224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chi-square independence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77240" y="2377440"/>
            <a:ext cx="484632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38100">
            <a:solidFill>
              <a:srgbClr val="18B6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977640"/>
            <a:ext cx="4434840" cy="0"/>
          </a:xfrm>
          <a:prstGeom prst="line">
            <a:avLst/>
          </a:prstGeom>
          <a:noFill/>
          <a:ln w="25400">
            <a:solidFill>
              <a:srgbClr val="1E63D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4400" y="3977640"/>
            <a:ext cx="0" cy="0"/>
          </a:xfrm>
          <a:prstGeom prst="line">
            <a:avLst/>
          </a:prstGeom>
          <a:noFill/>
          <a:ln w="25400">
            <a:solidFill>
              <a:srgbClr val="1E63D4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434840" y="42793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день недели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 rot="16200000">
            <a:off x="512064" y="23225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доля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1051560" y="3566160"/>
            <a:ext cx="118872" cy="118872"/>
          </a:xfrm>
          <a:prstGeom prst="ellipse">
            <a:avLst/>
          </a:prstGeom>
          <a:solidFill>
            <a:srgbClr val="1E63D4"/>
          </a:solidFill>
          <a:ln w="12700">
            <a:solidFill>
              <a:srgbClr val="1E63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8130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dirty="0" err="1">
                <a:solidFill>
                  <a:srgbClr val="62738A"/>
                </a:solidFill>
              </a:rPr>
              <a:t>Пн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627632" y="3108960"/>
            <a:ext cx="118872" cy="118872"/>
          </a:xfrm>
          <a:prstGeom prst="ellipse">
            <a:avLst/>
          </a:prstGeom>
          <a:solidFill>
            <a:srgbClr val="18B6B3"/>
          </a:solidFill>
          <a:ln w="12700">
            <a:solidFill>
              <a:srgbClr val="18B6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08760" y="38130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dirty="0">
                <a:solidFill>
                  <a:srgbClr val="62738A"/>
                </a:solidFill>
              </a:rPr>
              <a:t>Вт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203704" y="2774266"/>
            <a:ext cx="118872" cy="118872"/>
          </a:xfrm>
          <a:prstGeom prst="ellipse">
            <a:avLst/>
          </a:prstGeom>
          <a:solidFill>
            <a:srgbClr val="1E63D4"/>
          </a:solidFill>
          <a:ln w="12700">
            <a:solidFill>
              <a:srgbClr val="1E63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84832" y="38130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dirty="0">
                <a:solidFill>
                  <a:srgbClr val="62738A"/>
                </a:solidFill>
              </a:rPr>
              <a:t>Ср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779776" y="2651760"/>
            <a:ext cx="118872" cy="118872"/>
          </a:xfrm>
          <a:prstGeom prst="ellipse">
            <a:avLst/>
          </a:prstGeom>
          <a:solidFill>
            <a:srgbClr val="18B6B3"/>
          </a:solidFill>
          <a:ln w="12700">
            <a:solidFill>
              <a:srgbClr val="18B6B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60904" y="38130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dirty="0" err="1">
                <a:solidFill>
                  <a:srgbClr val="62738A"/>
                </a:solidFill>
              </a:rPr>
              <a:t>Чт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355848" y="2774266"/>
            <a:ext cx="118872" cy="118872"/>
          </a:xfrm>
          <a:prstGeom prst="ellipse">
            <a:avLst/>
          </a:prstGeom>
          <a:solidFill>
            <a:srgbClr val="1E63D4"/>
          </a:solidFill>
          <a:ln w="12700">
            <a:solidFill>
              <a:srgbClr val="1E63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36976" y="38130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dirty="0" err="1">
                <a:solidFill>
                  <a:srgbClr val="62738A"/>
                </a:solidFill>
              </a:rPr>
              <a:t>Пт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931920" y="3108960"/>
            <a:ext cx="118872" cy="118872"/>
          </a:xfrm>
          <a:prstGeom prst="ellipse">
            <a:avLst/>
          </a:prstGeom>
          <a:solidFill>
            <a:srgbClr val="18B6B3"/>
          </a:solidFill>
          <a:ln w="12700">
            <a:solidFill>
              <a:srgbClr val="18B6B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13048" y="38130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dirty="0" err="1">
                <a:solidFill>
                  <a:srgbClr val="62738A"/>
                </a:solidFill>
              </a:rPr>
              <a:t>Сб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507992" y="3566160"/>
            <a:ext cx="118872" cy="118872"/>
          </a:xfrm>
          <a:prstGeom prst="ellipse">
            <a:avLst/>
          </a:prstGeom>
          <a:solidFill>
            <a:srgbClr val="1E63D4"/>
          </a:solidFill>
          <a:ln w="12700">
            <a:solidFill>
              <a:srgbClr val="1E63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38130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dirty="0" err="1">
                <a:solidFill>
                  <a:srgbClr val="62738A"/>
                </a:solidFill>
              </a:rPr>
              <a:t>Вс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409944" y="2057400"/>
            <a:ext cx="475488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8E7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2057400"/>
            <a:ext cx="82296" cy="1078992"/>
          </a:xfrm>
          <a:prstGeom prst="rect">
            <a:avLst/>
          </a:prstGeom>
          <a:solidFill>
            <a:srgbClr val="1E63D4"/>
          </a:solidFill>
          <a:ln w="12700">
            <a:solidFill>
              <a:srgbClr val="1E63D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1112" y="22219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45B"/>
                </a:solidFill>
              </a:rPr>
              <a:t>Статистический вопрос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601968" y="2514600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Зависит ли соотношение male/female footfall от дня недели?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400800" y="3429000"/>
            <a:ext cx="475488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8E7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3429000"/>
            <a:ext cx="82296" cy="1078992"/>
          </a:xfrm>
          <a:prstGeom prst="rect">
            <a:avLst/>
          </a:prstGeom>
          <a:solidFill>
            <a:srgbClr val="18B6B3"/>
          </a:solidFill>
          <a:ln w="12700">
            <a:solidFill>
              <a:srgbClr val="18B6B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01968" y="35935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45B"/>
                </a:solidFill>
              </a:rPr>
              <a:t>Бизнес-действие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601968" y="3886200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При значимой зависимости: скорректировать промо, график персонала и выкладку по дням.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914400" y="5321808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62738A"/>
                </a:solidFill>
              </a:rPr>
              <a:t>Для отчёта важнее всего показать структуру таблицы сопряжённости, χ²-статистику, p-value и простой вывод для менеджера магазина.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66928" y="655624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EA4"/>
                </a:solidFill>
              </a:rPr>
              <a:t>Модуль 05 • Проверка гипотез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320272" y="65013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EA4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4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должно быть в финальном файле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Структура ответа, которую удобно приложить к R/Python-коду.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43000" cy="0"/>
          </a:xfrm>
          <a:prstGeom prst="line">
            <a:avLst/>
          </a:prstGeom>
          <a:noFill/>
          <a:ln w="38100">
            <a:solidFill>
              <a:srgbClr val="18B6B3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58952" y="157276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B6B3"/>
                </a:solidFill>
              </a:rPr>
              <a:t>01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417320" y="1554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45B"/>
                </a:solidFill>
              </a:rPr>
              <a:t>Business problem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17320" y="1929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цель, гипотезы, ограничения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58952" y="2578608"/>
            <a:ext cx="3127248" cy="0"/>
          </a:xfrm>
          <a:prstGeom prst="line">
            <a:avLst/>
          </a:prstGeom>
          <a:noFill/>
          <a:ln w="12700">
            <a:solidFill>
              <a:srgbClr val="D4E5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2272" y="157276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B6B3"/>
                </a:solidFill>
              </a:rPr>
              <a:t>02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20640" y="1554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45B"/>
                </a:solidFill>
              </a:rPr>
              <a:t>Data pre-processing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20640" y="1929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очистка, типы данных, EDA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462272" y="2578608"/>
            <a:ext cx="3127248" cy="0"/>
          </a:xfrm>
          <a:prstGeom prst="line">
            <a:avLst/>
          </a:prstGeom>
          <a:noFill/>
          <a:ln w="12700">
            <a:solidFill>
              <a:srgbClr val="D4E5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5592" y="157276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B6B3"/>
                </a:solidFill>
              </a:rPr>
              <a:t>03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823960" y="1554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45B"/>
                </a:solidFill>
              </a:rPr>
              <a:t>Assumption checks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823960" y="1929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нормальность, дисперсии, независимость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165592" y="2578608"/>
            <a:ext cx="3127248" cy="0"/>
          </a:xfrm>
          <a:prstGeom prst="line">
            <a:avLst/>
          </a:prstGeom>
          <a:noFill/>
          <a:ln w="12700">
            <a:solidFill>
              <a:srgbClr val="D4E5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34472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B6B3"/>
                </a:solidFill>
              </a:rPr>
              <a:t>04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417320" y="3429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45B"/>
                </a:solidFill>
              </a:rPr>
              <a:t>Model / test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417320" y="380390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выбор теста и обоснование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58952" y="4453128"/>
            <a:ext cx="3127248" cy="0"/>
          </a:xfrm>
          <a:prstGeom prst="line">
            <a:avLst/>
          </a:prstGeom>
          <a:noFill/>
          <a:ln w="12700">
            <a:solidFill>
              <a:srgbClr val="D4E5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62272" y="34472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B6B3"/>
                </a:solidFill>
              </a:rPr>
              <a:t>05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120640" y="3429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45B"/>
                </a:solidFill>
              </a:rPr>
              <a:t>Evaluation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120640" y="380390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p-value, статистика, интерпретация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462272" y="4453128"/>
            <a:ext cx="3127248" cy="0"/>
          </a:xfrm>
          <a:prstGeom prst="line">
            <a:avLst/>
          </a:prstGeom>
          <a:noFill/>
          <a:ln w="12700">
            <a:solidFill>
              <a:srgbClr val="D4E5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65592" y="34472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B6B3"/>
                </a:solidFill>
              </a:rPr>
              <a:t>06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823960" y="3429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345B"/>
                </a:solidFill>
              </a:rPr>
              <a:t>Business impact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823960" y="380390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рекомендации и ожидаемый эффект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8165592" y="4453128"/>
            <a:ext cx="3127248" cy="0"/>
          </a:xfrm>
          <a:prstGeom prst="line">
            <a:avLst/>
          </a:prstGeom>
          <a:noFill/>
          <a:ln w="12700">
            <a:solidFill>
              <a:srgbClr val="D4E5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56692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F2233"/>
                </a:solidFill>
              </a:rPr>
              <a:t>Идеальный результат: один reproducible notebook + короткий management summary, где вывод по каждой задаче понятен без чтения кода.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66928" y="655624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EA4"/>
                </a:solidFill>
              </a:rPr>
              <a:t>Модуль 05 • Проверка гипотез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320272" y="65013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EA4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infographic_scene_of_a_modern_work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868680"/>
            <a:ext cx="5349240" cy="30083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8229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4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Ключевые выводы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68096" y="1883664"/>
            <a:ext cx="91440" cy="91440"/>
          </a:xfrm>
          <a:prstGeom prst="ellipse">
            <a:avLst/>
          </a:prstGeom>
          <a:solidFill>
            <a:srgbClr val="18B6B3"/>
          </a:solidFill>
          <a:ln w="12700">
            <a:solidFill>
              <a:srgbClr val="18B6B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9264" y="18836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F2233"/>
                </a:solidFill>
              </a:rPr>
              <a:t>Для средних двух групп — t-test; для нескольких групп — ANOVA.</a:t>
            </a: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768096" y="2487168"/>
            <a:ext cx="91440" cy="91440"/>
          </a:xfrm>
          <a:prstGeom prst="ellipse">
            <a:avLst/>
          </a:prstGeom>
          <a:solidFill>
            <a:srgbClr val="1E63D4"/>
          </a:solidFill>
          <a:ln w="12700">
            <a:solidFill>
              <a:srgbClr val="1E63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9264" y="24871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F2233"/>
                </a:solidFill>
              </a:rPr>
              <a:t>Для долей и категорий — χ²-тест независимости.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768096" y="3090672"/>
            <a:ext cx="91440" cy="91440"/>
          </a:xfrm>
          <a:prstGeom prst="ellipse">
            <a:avLst/>
          </a:prstGeom>
          <a:solidFill>
            <a:srgbClr val="0F9F6E"/>
          </a:solidFill>
          <a:ln w="12700">
            <a:solidFill>
              <a:srgbClr val="0F9F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9264" y="30906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F2233"/>
                </a:solidFill>
              </a:rPr>
              <a:t>p-value без бизнес-интерпретации не является финальным ответом.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768096" y="369417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9264" y="369417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F2233"/>
                </a:solidFill>
              </a:rPr>
              <a:t>Каждый вывод должен объяснять, что менеджер делает дальше.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68096" y="4974336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2738A"/>
                </a:solidFill>
              </a:rPr>
              <a:t>Следующий шаг: подставить реальные CSV-данные, рассчитать p-value и заменить демонстрационные элементы фактическими результатами.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938</Words>
  <Application>Microsoft Office PowerPoint</Application>
  <PresentationFormat>Широкоэкранный</PresentationFormat>
  <Paragraphs>187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Модуль 05: Проверка гипотез</dc:title>
  <dc:subject>Module 05 hypothesis testing exercises</dc:subject>
  <dc:creator>OpenAI</dc:creator>
  <cp:lastModifiedBy>user</cp:lastModifiedBy>
  <cp:revision>4</cp:revision>
  <dcterms:created xsi:type="dcterms:W3CDTF">2026-09-01T09:27:09Z</dcterms:created>
  <dcterms:modified xsi:type="dcterms:W3CDTF">2026-09-05T13:34:00Z</dcterms:modified>
</cp:coreProperties>
</file>